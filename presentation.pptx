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Tomorrow" panose="020B0604020202020204" charset="0"/>
      <p:regular r:id="rId11"/>
    </p:embeddedFont>
    <p:embeddedFont>
      <p:font typeface="Tomorrow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64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494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35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Lung Cancer Detection using Convolutional Neural Networks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Deep Learning Based Medical Image Classification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Ayush Deep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584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073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685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1756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Large volume of CT scan images requiring expert analysis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9921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4070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Manual Limitations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5604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Time-consuming analysis with potential for human error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3769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454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9452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Automatically classify CT scans as cancerous or non-cancerous using CNN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287"/>
            <a:ext cx="497478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Dataset &amp; Preprocessing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59123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805940"/>
            <a:ext cx="632781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193095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Raw CT Images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2290048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Original scan data collection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3790" y="2736175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3790" y="2982992"/>
            <a:ext cx="632781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310800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Image Resizing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3467100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Standardize dimensions (224×224)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3790" y="391322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4160044"/>
            <a:ext cx="632781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28505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Normalization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4644152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Scale pixel values (0-1)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3790" y="509027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337096"/>
            <a:ext cx="632781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46211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Augmentation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5821204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Rotation, flip, zoom variations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3790" y="626733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3790" y="6514148"/>
            <a:ext cx="632781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63916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Model Input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3790" y="6998256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Prepared tensor format</a:t>
            </a:r>
            <a:endParaRPr lang="en-US" sz="125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1E3201-D6E0-F21A-DDB4-C49D9A288528}"/>
              </a:ext>
            </a:extLst>
          </p:cNvPr>
          <p:cNvGrpSpPr/>
          <p:nvPr/>
        </p:nvGrpSpPr>
        <p:grpSpPr>
          <a:xfrm>
            <a:off x="9132850" y="1424816"/>
            <a:ext cx="3204000" cy="1260286"/>
            <a:chOff x="7493556" y="1559123"/>
            <a:chExt cx="3131225" cy="938213"/>
          </a:xfrm>
        </p:grpSpPr>
        <p:sp>
          <p:nvSpPr>
            <p:cNvPr id="23" name="Shape 21"/>
            <p:cNvSpPr/>
            <p:nvPr/>
          </p:nvSpPr>
          <p:spPr>
            <a:xfrm>
              <a:off x="7516416" y="1559123"/>
              <a:ext cx="3108365" cy="938213"/>
            </a:xfrm>
            <a:prstGeom prst="roundRect">
              <a:avLst>
                <a:gd name="adj" fmla="val 11695"/>
              </a:avLst>
            </a:prstGeom>
            <a:solidFill>
              <a:srgbClr val="FCFCFC"/>
            </a:solidFill>
            <a:ln w="22860">
              <a:solidFill>
                <a:srgbClr val="D6D0D0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7493556" y="1559123"/>
              <a:ext cx="91440" cy="938213"/>
            </a:xfrm>
            <a:prstGeom prst="roundRect">
              <a:avLst>
                <a:gd name="adj" fmla="val 26046"/>
              </a:avLst>
            </a:prstGeom>
            <a:solidFill>
              <a:srgbClr val="1D1D1B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766566" y="1740694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Dataset Size</a:t>
              </a:r>
              <a:endParaRPr lang="en-US" sz="15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66566" y="2099786"/>
              <a:ext cx="2676644" cy="215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25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1000 total CT scan images</a:t>
              </a:r>
              <a:endParaRPr lang="en-US" sz="125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1726AD-1B3C-5A99-FC11-BF45132B459C}"/>
              </a:ext>
            </a:extLst>
          </p:cNvPr>
          <p:cNvGrpSpPr/>
          <p:nvPr/>
        </p:nvGrpSpPr>
        <p:grpSpPr>
          <a:xfrm>
            <a:off x="9132850" y="2860833"/>
            <a:ext cx="3204000" cy="1260000"/>
            <a:chOff x="10713006" y="1559123"/>
            <a:chExt cx="3131225" cy="938213"/>
          </a:xfrm>
        </p:grpSpPr>
        <p:sp>
          <p:nvSpPr>
            <p:cNvPr id="27" name="Shape 25"/>
            <p:cNvSpPr/>
            <p:nvPr/>
          </p:nvSpPr>
          <p:spPr>
            <a:xfrm>
              <a:off x="10735866" y="1559123"/>
              <a:ext cx="3108365" cy="938213"/>
            </a:xfrm>
            <a:prstGeom prst="roundRect">
              <a:avLst>
                <a:gd name="adj" fmla="val 11695"/>
              </a:avLst>
            </a:prstGeom>
            <a:solidFill>
              <a:srgbClr val="FCFCFC"/>
            </a:solidFill>
            <a:ln w="22860">
              <a:solidFill>
                <a:srgbClr val="D6D0D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10713006" y="1559123"/>
              <a:ext cx="91440" cy="938213"/>
            </a:xfrm>
            <a:prstGeom prst="roundRect">
              <a:avLst>
                <a:gd name="adj" fmla="val 26046"/>
              </a:avLst>
            </a:prstGeom>
            <a:solidFill>
              <a:srgbClr val="1D1D1B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10986016" y="1740694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Training Set</a:t>
              </a:r>
              <a:endParaRPr lang="en-US" sz="15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0986016" y="2099786"/>
              <a:ext cx="2676644" cy="215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25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613 images</a:t>
              </a:r>
              <a:endParaRPr lang="en-US" sz="12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36F0857-1013-629A-6022-A029ABFBE680}"/>
              </a:ext>
            </a:extLst>
          </p:cNvPr>
          <p:cNvGrpSpPr/>
          <p:nvPr/>
        </p:nvGrpSpPr>
        <p:grpSpPr>
          <a:xfrm>
            <a:off x="9144545" y="4231918"/>
            <a:ext cx="3204000" cy="1260000"/>
            <a:chOff x="7493556" y="2608421"/>
            <a:chExt cx="3131225" cy="938213"/>
          </a:xfrm>
        </p:grpSpPr>
        <p:sp>
          <p:nvSpPr>
            <p:cNvPr id="31" name="Shape 29"/>
            <p:cNvSpPr/>
            <p:nvPr/>
          </p:nvSpPr>
          <p:spPr>
            <a:xfrm>
              <a:off x="7516416" y="2608421"/>
              <a:ext cx="3108365" cy="938213"/>
            </a:xfrm>
            <a:prstGeom prst="roundRect">
              <a:avLst>
                <a:gd name="adj" fmla="val 11695"/>
              </a:avLst>
            </a:prstGeom>
            <a:solidFill>
              <a:srgbClr val="FCFCFC"/>
            </a:solidFill>
            <a:ln w="22860">
              <a:solidFill>
                <a:srgbClr val="D6D0D0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493556" y="2608421"/>
              <a:ext cx="91440" cy="938213"/>
            </a:xfrm>
            <a:prstGeom prst="roundRect">
              <a:avLst>
                <a:gd name="adj" fmla="val 26046"/>
              </a:avLst>
            </a:prstGeom>
            <a:solidFill>
              <a:srgbClr val="1D1D1B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66566" y="2789992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Validation Set</a:t>
              </a:r>
              <a:endParaRPr lang="en-US" sz="15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766566" y="3149084"/>
              <a:ext cx="2676644" cy="215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25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72 images</a:t>
              </a:r>
              <a:endParaRPr lang="en-US" sz="125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C25C8A9-F2C6-6F4B-082C-F5C8083BF99A}"/>
              </a:ext>
            </a:extLst>
          </p:cNvPr>
          <p:cNvGrpSpPr/>
          <p:nvPr/>
        </p:nvGrpSpPr>
        <p:grpSpPr>
          <a:xfrm>
            <a:off x="9132850" y="5641103"/>
            <a:ext cx="3204000" cy="1260000"/>
            <a:chOff x="10713006" y="2608421"/>
            <a:chExt cx="3131225" cy="938213"/>
          </a:xfrm>
        </p:grpSpPr>
        <p:sp>
          <p:nvSpPr>
            <p:cNvPr id="35" name="Shape 33"/>
            <p:cNvSpPr/>
            <p:nvPr/>
          </p:nvSpPr>
          <p:spPr>
            <a:xfrm>
              <a:off x="10735866" y="2608421"/>
              <a:ext cx="3108365" cy="938213"/>
            </a:xfrm>
            <a:prstGeom prst="roundRect">
              <a:avLst>
                <a:gd name="adj" fmla="val 11695"/>
              </a:avLst>
            </a:prstGeom>
            <a:solidFill>
              <a:srgbClr val="FCFCFC"/>
            </a:solidFill>
            <a:ln w="22860">
              <a:solidFill>
                <a:srgbClr val="D6D0D0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10713006" y="2608421"/>
              <a:ext cx="91440" cy="938213"/>
            </a:xfrm>
            <a:prstGeom prst="roundRect">
              <a:avLst>
                <a:gd name="adj" fmla="val 26046"/>
              </a:avLst>
            </a:prstGeom>
            <a:solidFill>
              <a:srgbClr val="1D1D1B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10986016" y="2789992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Test Set</a:t>
              </a:r>
              <a:endParaRPr lang="en-US" sz="15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0986016" y="3149084"/>
              <a:ext cx="2676644" cy="215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25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315 images</a:t>
              </a:r>
              <a:endParaRPr lang="en-US" sz="1250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F3DD29EF-950D-CD0C-8881-0332546D911A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788"/>
            <a:ext cx="6815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CNN Model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327196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533921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Conv 64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535144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MaxPool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535144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ReLU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493" y="3535144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Conv 32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535144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Input</a:t>
            </a:r>
            <a:endParaRPr lang="en-US" sz="2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863A50-1987-59B4-0CBD-6D662CA4ACBA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5069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Model Training Configuration</a:t>
            </a:r>
            <a:endParaRPr lang="en-US" sz="18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A42C75B-2F1E-AD2C-2790-F135DCCD67E8}"/>
              </a:ext>
            </a:extLst>
          </p:cNvPr>
          <p:cNvGrpSpPr/>
          <p:nvPr/>
        </p:nvGrpSpPr>
        <p:grpSpPr>
          <a:xfrm>
            <a:off x="396835" y="720566"/>
            <a:ext cx="6800850" cy="3907190"/>
            <a:chOff x="396835" y="720566"/>
            <a:chExt cx="6800850" cy="1638062"/>
          </a:xfrm>
        </p:grpSpPr>
        <p:sp>
          <p:nvSpPr>
            <p:cNvPr id="3" name="Shape 1"/>
            <p:cNvSpPr/>
            <p:nvPr/>
          </p:nvSpPr>
          <p:spPr>
            <a:xfrm>
              <a:off x="396835" y="865108"/>
              <a:ext cx="3379946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396835" y="849868"/>
              <a:ext cx="3379946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1942207" y="72056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29004" y="807244"/>
              <a:ext cx="115610" cy="11561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508397" y="1106091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Framework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08397" y="1297662"/>
              <a:ext cx="3156823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TensorFlow / Keras</a:t>
              </a:r>
              <a:endParaRPr lang="en-US" sz="16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817739" y="865108"/>
              <a:ext cx="3379946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3817739" y="849868"/>
              <a:ext cx="3379946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5363111" y="72056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9907" y="807244"/>
              <a:ext cx="115610" cy="115610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3929301" y="1106091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Loss Function</a:t>
              </a:r>
              <a:endParaRPr lang="en-US" sz="20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929301" y="1297662"/>
              <a:ext cx="3156823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Binary Cross Entropy</a:t>
              </a:r>
              <a:endParaRPr lang="en-US" sz="160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396835" y="1704618"/>
              <a:ext cx="6800850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16" name="Shape 12"/>
            <p:cNvSpPr/>
            <p:nvPr/>
          </p:nvSpPr>
          <p:spPr>
            <a:xfrm>
              <a:off x="396835" y="1689378"/>
              <a:ext cx="6800850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17" name="Shape 13"/>
            <p:cNvSpPr/>
            <p:nvPr/>
          </p:nvSpPr>
          <p:spPr>
            <a:xfrm>
              <a:off x="3652659" y="156007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39455" y="1646753"/>
              <a:ext cx="115610" cy="11561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508397" y="1945600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Optimizer</a:t>
              </a:r>
              <a:endParaRPr lang="en-US" sz="20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508397" y="2137172"/>
              <a:ext cx="6577727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Adam</a:t>
              </a:r>
              <a:endParaRPr lang="en-US" sz="16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3366E6F-8F74-F1A2-21B7-BAC09B6E32C0}"/>
              </a:ext>
            </a:extLst>
          </p:cNvPr>
          <p:cNvGrpSpPr/>
          <p:nvPr/>
        </p:nvGrpSpPr>
        <p:grpSpPr>
          <a:xfrm>
            <a:off x="7440335" y="720566"/>
            <a:ext cx="6800850" cy="3907190"/>
            <a:chOff x="7440335" y="720566"/>
            <a:chExt cx="6800850" cy="1638062"/>
          </a:xfrm>
        </p:grpSpPr>
        <p:sp>
          <p:nvSpPr>
            <p:cNvPr id="21" name="Shape 16"/>
            <p:cNvSpPr/>
            <p:nvPr/>
          </p:nvSpPr>
          <p:spPr>
            <a:xfrm>
              <a:off x="7440335" y="865108"/>
              <a:ext cx="3379946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22" name="Shape 17"/>
            <p:cNvSpPr/>
            <p:nvPr/>
          </p:nvSpPr>
          <p:spPr>
            <a:xfrm>
              <a:off x="7440335" y="849868"/>
              <a:ext cx="3379946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23" name="Shape 18"/>
            <p:cNvSpPr/>
            <p:nvPr/>
          </p:nvSpPr>
          <p:spPr>
            <a:xfrm>
              <a:off x="8985706" y="72056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72503" y="807244"/>
              <a:ext cx="115610" cy="115610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7551896" y="1106091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Epochs</a:t>
              </a:r>
              <a:endParaRPr lang="en-US" sz="2000" dirty="0"/>
            </a:p>
          </p:txBody>
        </p:sp>
        <p:sp>
          <p:nvSpPr>
            <p:cNvPr id="26" name="Text 20"/>
            <p:cNvSpPr/>
            <p:nvPr/>
          </p:nvSpPr>
          <p:spPr>
            <a:xfrm>
              <a:off x="7551896" y="1297662"/>
              <a:ext cx="3156823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20 training iterations</a:t>
              </a:r>
              <a:endParaRPr lang="en-US" sz="16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10861238" y="865108"/>
              <a:ext cx="3379946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28" name="Shape 22"/>
            <p:cNvSpPr/>
            <p:nvPr/>
          </p:nvSpPr>
          <p:spPr>
            <a:xfrm>
              <a:off x="10861238" y="849868"/>
              <a:ext cx="3379946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29" name="Shape 23"/>
            <p:cNvSpPr/>
            <p:nvPr/>
          </p:nvSpPr>
          <p:spPr>
            <a:xfrm>
              <a:off x="12406610" y="72056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30" name="Image 4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493407" y="807244"/>
              <a:ext cx="115610" cy="115610"/>
            </a:xfrm>
            <a:prstGeom prst="rect">
              <a:avLst/>
            </a:prstGeom>
          </p:spPr>
        </p:pic>
        <p:sp>
          <p:nvSpPr>
            <p:cNvPr id="31" name="Text 24"/>
            <p:cNvSpPr/>
            <p:nvPr/>
          </p:nvSpPr>
          <p:spPr>
            <a:xfrm>
              <a:off x="10972800" y="1106091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Batch Size</a:t>
              </a:r>
              <a:endParaRPr lang="en-US" sz="2000" dirty="0"/>
            </a:p>
          </p:txBody>
        </p:sp>
        <p:sp>
          <p:nvSpPr>
            <p:cNvPr id="32" name="Text 25"/>
            <p:cNvSpPr/>
            <p:nvPr/>
          </p:nvSpPr>
          <p:spPr>
            <a:xfrm>
              <a:off x="10972800" y="1297662"/>
              <a:ext cx="3156823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32 images per batch</a:t>
              </a:r>
              <a:endParaRPr lang="en-US" sz="1600" dirty="0"/>
            </a:p>
          </p:txBody>
        </p:sp>
        <p:sp>
          <p:nvSpPr>
            <p:cNvPr id="33" name="Shape 26"/>
            <p:cNvSpPr/>
            <p:nvPr/>
          </p:nvSpPr>
          <p:spPr>
            <a:xfrm>
              <a:off x="7440335" y="1704618"/>
              <a:ext cx="6800850" cy="654010"/>
            </a:xfrm>
            <a:prstGeom prst="roundRect">
              <a:avLst>
                <a:gd name="adj" fmla="val 11185"/>
              </a:avLst>
            </a:prstGeom>
            <a:solidFill>
              <a:srgbClr val="FCFCFC"/>
            </a:solidFill>
            <a:ln/>
          </p:spPr>
        </p:sp>
        <p:sp>
          <p:nvSpPr>
            <p:cNvPr id="34" name="Shape 27"/>
            <p:cNvSpPr/>
            <p:nvPr/>
          </p:nvSpPr>
          <p:spPr>
            <a:xfrm>
              <a:off x="7440335" y="1689378"/>
              <a:ext cx="6800850" cy="60960"/>
            </a:xfrm>
            <a:prstGeom prst="roundRect">
              <a:avLst>
                <a:gd name="adj" fmla="val 23721"/>
              </a:avLst>
            </a:prstGeom>
            <a:solidFill>
              <a:srgbClr val="1D1D1B"/>
            </a:solidFill>
            <a:ln/>
          </p:spPr>
        </p:sp>
        <p:sp>
          <p:nvSpPr>
            <p:cNvPr id="35" name="Shape 28"/>
            <p:cNvSpPr/>
            <p:nvPr/>
          </p:nvSpPr>
          <p:spPr>
            <a:xfrm>
              <a:off x="10696158" y="1560076"/>
              <a:ext cx="289203" cy="289203"/>
            </a:xfrm>
            <a:prstGeom prst="roundRect">
              <a:avLst>
                <a:gd name="adj" fmla="val 316179"/>
              </a:avLst>
            </a:prstGeom>
            <a:solidFill>
              <a:srgbClr val="1D1D1B"/>
            </a:solidFill>
            <a:ln/>
          </p:spPr>
        </p:sp>
        <p:pic>
          <p:nvPicPr>
            <p:cNvPr id="36" name="Image 5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82955" y="1646753"/>
              <a:ext cx="115610" cy="115610"/>
            </a:xfrm>
            <a:prstGeom prst="rect">
              <a:avLst/>
            </a:prstGeom>
          </p:spPr>
        </p:pic>
        <p:sp>
          <p:nvSpPr>
            <p:cNvPr id="37" name="Text 29"/>
            <p:cNvSpPr/>
            <p:nvPr/>
          </p:nvSpPr>
          <p:spPr>
            <a:xfrm>
              <a:off x="7551896" y="1945600"/>
              <a:ext cx="1204913" cy="1506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61615C"/>
                  </a:solidFill>
                  <a:latin typeface="Tomorrow Semi Bold" pitchFamily="34" charset="0"/>
                  <a:ea typeface="Tomorrow Semi Bold" pitchFamily="34" charset="-122"/>
                  <a:cs typeface="Tomorrow Semi Bold" pitchFamily="34" charset="-120"/>
                </a:rPr>
                <a:t>Metrics</a:t>
              </a:r>
              <a:endParaRPr lang="en-US" sz="2000" dirty="0"/>
            </a:p>
          </p:txBody>
        </p:sp>
        <p:sp>
          <p:nvSpPr>
            <p:cNvPr id="38" name="Text 30"/>
            <p:cNvSpPr/>
            <p:nvPr/>
          </p:nvSpPr>
          <p:spPr>
            <a:xfrm>
              <a:off x="7551896" y="2137172"/>
              <a:ext cx="6577727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1600" dirty="0">
                  <a:solidFill>
                    <a:srgbClr val="61615C"/>
                  </a:solidFill>
                  <a:latin typeface="Tomorrow" pitchFamily="34" charset="0"/>
                  <a:ea typeface="Tomorrow" pitchFamily="34" charset="-122"/>
                  <a:cs typeface="Tomorrow" pitchFamily="34" charset="-120"/>
                </a:rPr>
                <a:t>Accuracy, Precision, Recall</a:t>
              </a:r>
              <a:endParaRPr lang="en-US" sz="1600" dirty="0"/>
            </a:p>
          </p:txBody>
        </p:sp>
      </p:grp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6638" y="4168564"/>
            <a:ext cx="6030516" cy="415582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121493" y="6640502"/>
            <a:ext cx="2483235" cy="330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Dataset</a:t>
            </a:r>
            <a:endParaRPr lang="en-US" sz="2050" dirty="0"/>
          </a:p>
        </p:txBody>
      </p:sp>
      <p:sp>
        <p:nvSpPr>
          <p:cNvPr id="42" name="Text 32"/>
          <p:cNvSpPr/>
          <p:nvPr/>
        </p:nvSpPr>
        <p:spPr>
          <a:xfrm>
            <a:off x="5590443" y="4956612"/>
            <a:ext cx="2563909" cy="33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Training Loop</a:t>
            </a:r>
            <a:endParaRPr lang="en-US" sz="2050" dirty="0"/>
          </a:p>
        </p:txBody>
      </p:sp>
      <p:sp>
        <p:nvSpPr>
          <p:cNvPr id="44" name="Text 33"/>
          <p:cNvSpPr/>
          <p:nvPr/>
        </p:nvSpPr>
        <p:spPr>
          <a:xfrm>
            <a:off x="6836509" y="7214342"/>
            <a:ext cx="2483234" cy="330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Backpropagation</a:t>
            </a:r>
            <a:endParaRPr lang="en-US" sz="2050" dirty="0"/>
          </a:p>
        </p:txBody>
      </p:sp>
      <p:sp>
        <p:nvSpPr>
          <p:cNvPr id="46" name="Text 34"/>
          <p:cNvSpPr/>
          <p:nvPr/>
        </p:nvSpPr>
        <p:spPr>
          <a:xfrm>
            <a:off x="8985432" y="5577627"/>
            <a:ext cx="2483235" cy="330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Trained Model</a:t>
            </a:r>
            <a:endParaRPr lang="en-US" sz="20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965F4F6-D233-F379-122C-8B51BCAEA00D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202"/>
            <a:ext cx="841438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Workflow &amp; 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65565"/>
            <a:ext cx="6521410" cy="816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7863" y="266580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Image Upload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97863" y="3094792"/>
            <a:ext cx="611326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User submits CT scan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65565"/>
            <a:ext cx="6521410" cy="8165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9273" y="266580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519273" y="3094792"/>
            <a:ext cx="611326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Resize, normalize, validate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609142"/>
            <a:ext cx="6521410" cy="8165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7863" y="460938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CNN Prediction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97863" y="5038368"/>
            <a:ext cx="611326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Model inference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609142"/>
            <a:ext cx="6521410" cy="8165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9273" y="460938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519273" y="5038368"/>
            <a:ext cx="611326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Display results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93790" y="594312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Backend Stack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93790" y="6445687"/>
            <a:ext cx="6272451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 3.11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TensorFlow 2.12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NumPy / Pillow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571780" y="594312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Frontend Interface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571780" y="6445687"/>
            <a:ext cx="6272451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Streamlit framework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Web-based UI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predictions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F14F0E-029B-C25E-D573-3542D554F0CB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3432"/>
            <a:ext cx="82013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Results &amp; Evaluation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9187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93.8%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41401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Overall correct predictions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01918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83.1%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54140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Proportion of true positives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01918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93.2%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Recall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54140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Cancer detection rate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01918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1615C"/>
                </a:solidFill>
                <a:latin typeface="Tomorrow Semi Bold" pitchFamily="34" charset="0"/>
              </a:rPr>
              <a:t>0.88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F1 Score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54140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Balanced metric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59454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DADAD7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511165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44294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Evaluation Method:</a:t>
            </a: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Confusion matrix analysis on test set. Metrics calculated using scikit-learn implementation.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A677E-46A1-35C5-8AC6-BBE6947759C9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919282"/>
            <a:ext cx="6591895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 &amp; Future Work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4493" y="1994773"/>
            <a:ext cx="3019306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704493" y="2573060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5" name="Text 3"/>
          <p:cNvSpPr/>
          <p:nvPr/>
        </p:nvSpPr>
        <p:spPr>
          <a:xfrm>
            <a:off x="1335881" y="2642235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Feature Extraction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5881" y="3135273"/>
            <a:ext cx="5733812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CNN effectively learns discriminative features from CT images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4493" y="4100393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8" name="Text 6"/>
          <p:cNvSpPr/>
          <p:nvPr/>
        </p:nvSpPr>
        <p:spPr>
          <a:xfrm>
            <a:off x="1335881" y="4169569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Clinical Assistance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5881" y="4662607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Model supports early detection of lung cancer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4493" y="5323761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1" name="Text 9"/>
          <p:cNvSpPr/>
          <p:nvPr/>
        </p:nvSpPr>
        <p:spPr>
          <a:xfrm>
            <a:off x="1335881" y="5392936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Usable Interface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5881" y="5885974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Streamlit dashboard enables simple model interaction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8327" y="1994773"/>
            <a:ext cx="3368397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Improvements</a:t>
            </a:r>
            <a:endParaRPr lang="en-US" sz="2350" dirty="0"/>
          </a:p>
        </p:txBody>
      </p:sp>
      <p:sp>
        <p:nvSpPr>
          <p:cNvPr id="14" name="Shape 12"/>
          <p:cNvSpPr/>
          <p:nvPr/>
        </p:nvSpPr>
        <p:spPr>
          <a:xfrm>
            <a:off x="7568327" y="2573060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8199715" y="2642235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Larger Datasets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199715" y="3135273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Expand to [X]+ annotated scans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68327" y="3796427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9715" y="3865602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Transfer Learning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199715" y="4358640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ResNet, VGG, or Inception architectures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68327" y="5019794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8199715" y="5088969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Explainability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99715" y="5582007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 Grad-CAM for visual explanations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68327" y="6243161"/>
            <a:ext cx="452795" cy="452795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24" name="Text 22"/>
          <p:cNvSpPr/>
          <p:nvPr/>
        </p:nvSpPr>
        <p:spPr>
          <a:xfrm>
            <a:off x="8199715" y="6312337"/>
            <a:ext cx="2540794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Hospital Integration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199715" y="6805374"/>
            <a:ext cx="573381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PACS system compatibility</a:t>
            </a:r>
            <a:endParaRPr lang="en-US" sz="15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4D96D1-3CCD-E2E5-8EBE-CFA11468BBBA}"/>
              </a:ext>
            </a:extLst>
          </p:cNvPr>
          <p:cNvSpPr/>
          <p:nvPr/>
        </p:nvSpPr>
        <p:spPr>
          <a:xfrm>
            <a:off x="12859473" y="7755038"/>
            <a:ext cx="1666755" cy="38196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310</Words>
  <Application>Microsoft Office PowerPoint</Application>
  <PresentationFormat>Custom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Tomorrow Semi Bold</vt:lpstr>
      <vt:lpstr>Arial</vt:lpstr>
      <vt:lpstr>Tomorrow Light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deep</cp:lastModifiedBy>
  <cp:revision>3</cp:revision>
  <dcterms:created xsi:type="dcterms:W3CDTF">2026-03-10T11:54:55Z</dcterms:created>
  <dcterms:modified xsi:type="dcterms:W3CDTF">2026-03-13T12:21:23Z</dcterms:modified>
</cp:coreProperties>
</file>